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71" r:id="rId5"/>
    <p:sldId id="258" r:id="rId6"/>
    <p:sldId id="270" r:id="rId7"/>
    <p:sldId id="259" r:id="rId8"/>
    <p:sldId id="260" r:id="rId9"/>
    <p:sldId id="261" r:id="rId10"/>
    <p:sldId id="262" r:id="rId11"/>
    <p:sldId id="263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3.png"/><Relationship Id="rId30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image" Target="../media/image6.png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image" Target="../media/image5.png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image" Target="../media/image4.png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image" Target="../media/image7.png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26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4" name="Shape 2"/>
          <p:cNvSpPr/>
          <p:nvPr/>
        </p:nvSpPr>
        <p:spPr>
          <a:xfrm>
            <a:off x="2560320" y="3200400"/>
            <a:ext cx="3200400" cy="3200400"/>
          </a:xfrm>
          <a:prstGeom prst="ellipse">
            <a:avLst/>
          </a:prstGeom>
          <a:solidFill>
            <a:srgbClr val="005A9C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017520" y="3657600"/>
            <a:ext cx="2286000" cy="2286000"/>
          </a:xfrm>
          <a:prstGeom prst="ellipse">
            <a:avLst/>
          </a:prstGeom>
          <a:solidFill>
            <a:srgbClr val="0078D4">
              <a:alpha val="4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7" name="Text 5"/>
          <p:cNvSpPr/>
          <p:nvPr/>
        </p:nvSpPr>
        <p:spPr>
          <a:xfrm>
            <a:off x="548640" y="914400"/>
            <a:ext cx="3200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Goktech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智能体平台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914400" cy="36576"/>
          </a:xfrm>
          <a:prstGeom prst="rect">
            <a:avLst/>
          </a:prstGeom>
          <a:solidFill>
            <a:srgbClr val="E88C00"/>
          </a:solidFill>
        </p:spPr>
      </p:sp>
      <p:sp>
        <p:nvSpPr>
          <p:cNvPr id="9" name="Text 7"/>
          <p:cNvSpPr/>
          <p:nvPr/>
        </p:nvSpPr>
        <p:spPr>
          <a:xfrm>
            <a:off x="548640" y="2697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D9EC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初始版本讲解演示</a:t>
            </a:r>
            <a:endParaRPr lang="zh-CN" altLang="en-US" sz="2000" dirty="0">
              <a:solidFill>
                <a:srgbClr val="D9EC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8D4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3 大智能体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 项技能/插件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2011680" cy="27432"/>
          </a:xfrm>
          <a:prstGeom prst="rect">
            <a:avLst/>
          </a:prstGeom>
          <a:solidFill>
            <a:srgbClr val="D9ECFA"/>
          </a:solidFill>
        </p:spPr>
      </p:sp>
      <p:sp>
        <p:nvSpPr>
          <p:cNvPr id="13" name="Text 11"/>
          <p:cNvSpPr/>
          <p:nvPr/>
        </p:nvSpPr>
        <p:spPr>
          <a:xfrm>
            <a:off x="4754880" y="23317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 商务办公 · 售前支持 · 人资管理 </a:t>
            </a:r>
            <a:r>
              <a:rPr lang="zh-CN" altLang="en-US" sz="12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等业务场景</a:t>
            </a:r>
            <a:endParaRPr lang="zh-CN" altLang="en-US" sz="1200" dirty="0">
              <a:solidFill>
                <a:srgbClr val="697B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3840480"/>
            <a:ext cx="3200400" cy="9144"/>
          </a:xfrm>
          <a:prstGeom prst="rect">
            <a:avLst/>
          </a:prstGeom>
          <a:solidFill>
            <a:srgbClr val="DEE5ED"/>
          </a:solidFill>
        </p:spPr>
      </p:sp>
      <p:sp>
        <p:nvSpPr>
          <p:cNvPr id="15" name="Text 13"/>
          <p:cNvSpPr/>
          <p:nvPr/>
        </p:nvSpPr>
        <p:spPr>
          <a:xfrm>
            <a:off x="4754880" y="39776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B91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Goktech AI 团队  |  2026 年 6月  |  V202606-03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40" y="781050"/>
            <a:ext cx="8260715" cy="4394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4" name="Text 1"/>
          <p:cNvSpPr/>
          <p:nvPr/>
        </p:nvSpPr>
        <p:spPr>
          <a:xfrm>
            <a:off x="548640" y="731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FDE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模式简介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9ECF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FFDE mode info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平台概述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9ECF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Platform Summary</a:t>
            </a:r>
            <a:endParaRPr lang="en-US" sz="800" dirty="0"/>
          </a:p>
        </p:txBody>
      </p:sp>
      <p:sp>
        <p:nvSpPr>
          <p:cNvPr id="31" name="文本框 30"/>
          <p:cNvSpPr txBox="1"/>
          <p:nvPr/>
        </p:nvSpPr>
        <p:spPr>
          <a:xfrm>
            <a:off x="334010" y="929640"/>
            <a:ext cx="8218805" cy="106045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i="0">
                <a:solidFill>
                  <a:srgbClr val="1A73E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国科智能体平台是面向 </a:t>
            </a:r>
            <a:r>
              <a:rPr lang="en-US" altLang="zh-CN" sz="1400" b="1" i="0">
                <a:solidFill>
                  <a:srgbClr val="1A73E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AI </a:t>
            </a:r>
            <a:r>
              <a:rPr lang="zh-CN" altLang="en-US" sz="1400" b="1" i="0">
                <a:solidFill>
                  <a:srgbClr val="1A73E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实训营、</a:t>
            </a:r>
            <a:r>
              <a:rPr lang="en-US" altLang="zh-CN" sz="1400" b="1" i="0">
                <a:solidFill>
                  <a:srgbClr val="1A73E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FDE </a:t>
            </a:r>
            <a:r>
              <a:rPr lang="zh-CN" altLang="en-US" sz="1400" b="1" i="0">
                <a:solidFill>
                  <a:srgbClr val="1A73E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现场交付、客户试点 </a:t>
            </a:r>
            <a:r>
              <a:rPr lang="en-US" altLang="zh-CN" sz="1400" b="1" i="0">
                <a:solidFill>
                  <a:srgbClr val="1A73E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MVP </a:t>
            </a:r>
            <a:r>
              <a:rPr lang="zh-CN" altLang="en-US" sz="1400" b="1" i="0">
                <a:solidFill>
                  <a:srgbClr val="1A73E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和团队资产沉淀的智能体工作平台。</a:t>
            </a:r>
            <a:r>
              <a:rPr lang="zh-CN" altLang="en-US" sz="1400" b="0" i="0">
                <a:solidFill>
                  <a:srgbClr val="2D374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 可以支持</a:t>
            </a:r>
            <a:r>
              <a:rPr lang="en-US" altLang="zh-CN" sz="1400" b="0" i="0">
                <a:solidFill>
                  <a:srgbClr val="2D374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Echo</a:t>
            </a:r>
            <a:r>
              <a:rPr lang="zh-CN" altLang="en-US" sz="1400" b="0" i="0">
                <a:solidFill>
                  <a:srgbClr val="2D374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、</a:t>
            </a:r>
            <a:r>
              <a:rPr lang="en-US" altLang="zh-CN" sz="1400" b="0" i="0">
                <a:solidFill>
                  <a:srgbClr val="2D374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Delta</a:t>
            </a:r>
            <a:r>
              <a:rPr lang="zh-CN" altLang="en-US" sz="1400" b="0" i="0">
                <a:solidFill>
                  <a:srgbClr val="2D374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、售前、客户经理</a:t>
            </a:r>
            <a:r>
              <a:rPr lang="en-US" altLang="zh-CN" sz="1400" b="0" i="0">
                <a:solidFill>
                  <a:srgbClr val="2D374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 </a:t>
            </a:r>
            <a:r>
              <a:rPr lang="zh-CN" altLang="en-US" sz="1400" b="0" i="0">
                <a:solidFill>
                  <a:srgbClr val="2D374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等角色协同完成 </a:t>
            </a:r>
            <a:r>
              <a:rPr lang="en-US" altLang="zh-CN" sz="1400" b="0" i="0">
                <a:solidFill>
                  <a:srgbClr val="2D374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AI </a:t>
            </a:r>
            <a:r>
              <a:rPr lang="zh-CN" altLang="en-US" sz="1400" b="0" i="0">
                <a:solidFill>
                  <a:srgbClr val="2D3748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项目调研、原型、试点、移交、交付等过程工作，不断沉淀形成可复用的工作平台。</a:t>
            </a:r>
            <a:endParaRPr lang="zh-CN" altLang="en-US" sz="1400" b="0" i="0">
              <a:solidFill>
                <a:srgbClr val="2D3748"/>
              </a:solidFill>
              <a:latin typeface="思源宋体 CN Light" panose="02020300000000000000" charset="-122"/>
              <a:ea typeface="思源宋体 CN Light" panose="02020300000000000000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" y="2046605"/>
            <a:ext cx="8020685" cy="2969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</a:t>
            </a: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9ECF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TRAINING OBJECTIVES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97B91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457200" y="1097280"/>
            <a:ext cx="1920240" cy="310896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0078D4"/>
          </a:solidFill>
        </p:spPr>
      </p:sp>
      <p:pic>
        <p:nvPicPr>
          <p:cNvPr id="9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07008" y="148132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594360" y="21945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594360" y="24231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降低学习门槛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594360" y="27889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zh-CN" alt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开箱即用</a:t>
            </a: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，零基础用户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小时内独立完成常见工作任务</a:t>
            </a:r>
            <a:endParaRPr lang="en-US" sz="100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2560320" y="1097280"/>
            <a:ext cx="1920240" cy="310896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3200400" y="1371600"/>
            <a:ext cx="640080" cy="640080"/>
          </a:xfrm>
          <a:prstGeom prst="ellipse">
            <a:avLst/>
          </a:prstGeom>
          <a:solidFill>
            <a:srgbClr val="00875A"/>
          </a:solidFill>
        </p:spPr>
      </p:sp>
      <p:pic>
        <p:nvPicPr>
          <p:cNvPr id="15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310128" y="148132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>
            <p:custDataLst>
              <p:tags r:id="rId12"/>
            </p:custDataLst>
          </p:nvPr>
        </p:nvSpPr>
        <p:spPr>
          <a:xfrm>
            <a:off x="2697480" y="21945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7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3"/>
          <p:cNvSpPr/>
          <p:nvPr>
            <p:custDataLst>
              <p:tags r:id="rId13"/>
            </p:custDataLst>
          </p:nvPr>
        </p:nvSpPr>
        <p:spPr>
          <a:xfrm>
            <a:off x="2697480" y="24231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提升工作效率</a:t>
            </a:r>
            <a:endParaRPr lang="en-US" sz="1600" dirty="0"/>
          </a:p>
        </p:txBody>
      </p:sp>
      <p:sp>
        <p:nvSpPr>
          <p:cNvPr id="18" name="Text 14"/>
          <p:cNvSpPr/>
          <p:nvPr>
            <p:custDataLst>
              <p:tags r:id="rId14"/>
            </p:custDataLst>
          </p:nvPr>
        </p:nvSpPr>
        <p:spPr>
          <a:xfrm>
            <a:off x="2697480" y="27889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行业调研、</a:t>
            </a:r>
            <a:r>
              <a:rPr lang="zh-CN" alt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方案编写、</a:t>
            </a: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JD 编写等高耗时任务从数小时压缩至分钟级</a:t>
            </a:r>
            <a:endParaRPr lang="en-US" sz="1000" dirty="0"/>
          </a:p>
        </p:txBody>
      </p:sp>
      <p:sp>
        <p:nvSpPr>
          <p:cNvPr id="19" name="Shape 15"/>
          <p:cNvSpPr/>
          <p:nvPr>
            <p:custDataLst>
              <p:tags r:id="rId15"/>
            </p:custDataLst>
          </p:nvPr>
        </p:nvSpPr>
        <p:spPr>
          <a:xfrm>
            <a:off x="4663440" y="1097280"/>
            <a:ext cx="1920240" cy="310896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0" name="Shape 16"/>
          <p:cNvSpPr/>
          <p:nvPr>
            <p:custDataLst>
              <p:tags r:id="rId16"/>
            </p:custDataLst>
          </p:nvPr>
        </p:nvSpPr>
        <p:spPr>
          <a:xfrm>
            <a:off x="5303520" y="1371600"/>
            <a:ext cx="640080" cy="640080"/>
          </a:xfrm>
          <a:prstGeom prst="ellipse">
            <a:avLst/>
          </a:prstGeom>
          <a:solidFill>
            <a:srgbClr val="6B46C5"/>
          </a:solidFill>
        </p:spPr>
      </p:sp>
      <p:pic>
        <p:nvPicPr>
          <p:cNvPr id="21" name="Image 2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413248" y="148132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>
            <p:custDataLst>
              <p:tags r:id="rId19"/>
            </p:custDataLst>
          </p:nvPr>
        </p:nvSpPr>
        <p:spPr>
          <a:xfrm>
            <a:off x="4800600" y="21945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6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>
            <p:custDataLst>
              <p:tags r:id="rId20"/>
            </p:custDataLst>
          </p:nvPr>
        </p:nvSpPr>
        <p:spPr>
          <a:xfrm>
            <a:off x="4800600" y="24231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统一操作规范</a:t>
            </a:r>
            <a:endParaRPr lang="en-US" sz="1600" dirty="0"/>
          </a:p>
        </p:txBody>
      </p:sp>
      <p:sp>
        <p:nvSpPr>
          <p:cNvPr id="24" name="Text 19"/>
          <p:cNvSpPr/>
          <p:nvPr>
            <p:custDataLst>
              <p:tags r:id="rId21"/>
            </p:custDataLst>
          </p:nvPr>
        </p:nvSpPr>
        <p:spPr>
          <a:xfrm>
            <a:off x="4800600" y="27889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建立技能调用标准流程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减少误用和返工</a:t>
            </a:r>
            <a:endParaRPr lang="en-US" sz="1000" dirty="0"/>
          </a:p>
        </p:txBody>
      </p:sp>
      <p:sp>
        <p:nvSpPr>
          <p:cNvPr id="25" name="Shape 20"/>
          <p:cNvSpPr/>
          <p:nvPr>
            <p:custDataLst>
              <p:tags r:id="rId22"/>
            </p:custDataLst>
          </p:nvPr>
        </p:nvSpPr>
        <p:spPr>
          <a:xfrm>
            <a:off x="6766560" y="1097280"/>
            <a:ext cx="1920240" cy="310896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6" name="Shape 21"/>
          <p:cNvSpPr/>
          <p:nvPr>
            <p:custDataLst>
              <p:tags r:id="rId23"/>
            </p:custDataLst>
          </p:nvPr>
        </p:nvSpPr>
        <p:spPr>
          <a:xfrm>
            <a:off x="7406640" y="1371600"/>
            <a:ext cx="640080" cy="640080"/>
          </a:xfrm>
          <a:prstGeom prst="ellipse">
            <a:avLst/>
          </a:prstGeom>
          <a:solidFill>
            <a:srgbClr val="E88C00"/>
          </a:solidFill>
        </p:spPr>
      </p:sp>
      <p:pic>
        <p:nvPicPr>
          <p:cNvPr id="27" name="Image 3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7516368" y="1481328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>
            <p:custDataLst>
              <p:tags r:id="rId26"/>
            </p:custDataLst>
          </p:nvPr>
        </p:nvSpPr>
        <p:spPr>
          <a:xfrm>
            <a:off x="6903720" y="21945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3"/>
          <p:cNvSpPr/>
          <p:nvPr>
            <p:custDataLst>
              <p:tags r:id="rId27"/>
            </p:custDataLst>
          </p:nvPr>
        </p:nvSpPr>
        <p:spPr>
          <a:xfrm>
            <a:off x="6903720" y="24231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激发应用创意</a:t>
            </a:r>
            <a:endParaRPr lang="en-US" sz="1600" dirty="0"/>
          </a:p>
        </p:txBody>
      </p:sp>
      <p:sp>
        <p:nvSpPr>
          <p:cNvPr id="30" name="Text 24"/>
          <p:cNvSpPr/>
          <p:nvPr>
            <p:custDataLst>
              <p:tags r:id="rId28"/>
            </p:custDataLst>
          </p:nvPr>
        </p:nvSpPr>
        <p:spPr>
          <a:xfrm>
            <a:off x="6903720" y="27889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通过案例演示，启发用户发现自身业务场景中的 AI 应用机会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核心概念：智能体、技能、插件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9ECF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CORE CONCEPTS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Goktech 智能体平台 · 技能与插件使用培训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97B91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914400" y="1097280"/>
            <a:ext cx="2240280" cy="201168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914400" y="1097280"/>
            <a:ext cx="2240280" cy="54864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1051560" y="132588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1051560" y="18745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面向特定业务领域的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助手集合</a:t>
            </a:r>
            <a:endParaRPr lang="en-US" sz="10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1051560" y="25146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类比：一个「</a:t>
            </a:r>
            <a:r>
              <a:rPr lang="zh-CN" alt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岗位角色</a:t>
            </a:r>
            <a:r>
              <a:rPr 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」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00400" y="1874520"/>
            <a:ext cx="228600" cy="228600"/>
          </a:xfrm>
          <a:prstGeom prst="rect">
            <a:avLst/>
          </a:prstGeom>
        </p:spPr>
      </p:pic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3474720" y="1097280"/>
            <a:ext cx="2240280" cy="201168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3474720" y="1097280"/>
            <a:ext cx="2240280" cy="54864"/>
          </a:xfrm>
          <a:prstGeom prst="rect">
            <a:avLst/>
          </a:prstGeom>
          <a:solidFill>
            <a:srgbClr val="00875A"/>
          </a:solidFill>
        </p:spPr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3611880" y="132588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3611880" y="18745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</a:t>
            </a:r>
            <a:r>
              <a:rPr lang="zh-CN" alt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指定</a:t>
            </a: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任务的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专项能力单元</a:t>
            </a:r>
            <a:endParaRPr lang="en-US" sz="1000" dirty="0"/>
          </a:p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3611880" y="25146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</a:t>
            </a:r>
            <a:r>
              <a:rPr lang="zh-CN" alt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岗位专项能力</a:t>
            </a:r>
            <a:r>
              <a:rPr 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</a:t>
            </a:r>
            <a:r>
              <a:rPr lang="zh-CN" alt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单个小功能</a:t>
            </a:r>
            <a:r>
              <a:rPr 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」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760720" y="1874520"/>
            <a:ext cx="228600" cy="228600"/>
          </a:xfrm>
          <a:prstGeom prst="rect">
            <a:avLst/>
          </a:prstGeom>
        </p:spPr>
      </p:pic>
      <p:sp>
        <p:nvSpPr>
          <p:cNvPr id="19" name="Shape 15"/>
          <p:cNvSpPr/>
          <p:nvPr>
            <p:custDataLst>
              <p:tags r:id="rId14"/>
            </p:custDataLst>
          </p:nvPr>
        </p:nvSpPr>
        <p:spPr>
          <a:xfrm>
            <a:off x="6035040" y="1097280"/>
            <a:ext cx="2240280" cy="201168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0" name="Shape 16"/>
          <p:cNvSpPr/>
          <p:nvPr>
            <p:custDataLst>
              <p:tags r:id="rId15"/>
            </p:custDataLst>
          </p:nvPr>
        </p:nvSpPr>
        <p:spPr>
          <a:xfrm>
            <a:off x="6035040" y="1097280"/>
            <a:ext cx="2240280" cy="54864"/>
          </a:xfrm>
          <a:prstGeom prst="rect">
            <a:avLst/>
          </a:prstGeom>
          <a:solidFill>
            <a:srgbClr val="6B46C5"/>
          </a:solidFill>
        </p:spPr>
      </p:sp>
      <p:sp>
        <p:nvSpPr>
          <p:cNvPr id="21" name="Text 17"/>
          <p:cNvSpPr/>
          <p:nvPr>
            <p:custDataLst>
              <p:tags r:id="rId16"/>
            </p:custDataLst>
          </p:nvPr>
        </p:nvSpPr>
        <p:spPr>
          <a:xfrm>
            <a:off x="6172200" y="132588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插件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Plugin</a:t>
            </a:r>
            <a:endParaRPr lang="en-US" sz="1600" dirty="0"/>
          </a:p>
        </p:txBody>
      </p:sp>
      <p:sp>
        <p:nvSpPr>
          <p:cNvPr id="22" name="Text 18"/>
          <p:cNvSpPr/>
          <p:nvPr>
            <p:custDataLst>
              <p:tags r:id="rId17"/>
            </p:custDataLst>
          </p:nvPr>
        </p:nvSpPr>
        <p:spPr>
          <a:xfrm>
            <a:off x="6172200" y="18745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包含多个</a:t>
            </a:r>
            <a:r>
              <a:rPr lang="en-US" altLang="zh-CN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Skills</a:t>
            </a:r>
            <a:r>
              <a:rPr lang="zh-CN" alt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的扩展工具包</a:t>
            </a:r>
            <a:endParaRPr lang="zh-CN" altLang="en-US" sz="1000" dirty="0">
              <a:solidFill>
                <a:srgbClr val="3749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9"/>
          <p:cNvSpPr/>
          <p:nvPr>
            <p:custDataLst>
              <p:tags r:id="rId18"/>
            </p:custDataLst>
          </p:nvPr>
        </p:nvSpPr>
        <p:spPr>
          <a:xfrm>
            <a:off x="6172200" y="25146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</a:t>
            </a:r>
            <a:r>
              <a:rPr lang="zh-CN" alt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岗位综合能力</a:t>
            </a:r>
            <a:r>
              <a:rPr 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</a:t>
            </a:r>
            <a:r>
              <a:rPr lang="zh-CN" alt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多功能工具包</a:t>
            </a:r>
            <a:r>
              <a:rPr lang="en-US" sz="900" i="1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」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57200" y="32918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 vs 插件 区别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457200" y="3657600"/>
          <a:ext cx="8229600" cy="1298448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技能 (Skill)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插件 (Plugin)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b="1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构成</a:t>
                      </a:r>
                      <a:endParaRPr lang="zh-CN" altLang="en-US" sz="900" b="1" dirty="0">
                        <a:solidFill>
                          <a:srgbClr val="3749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只需一个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SKILL.md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，轻量、快速编写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必须有清单文件：.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claude-plugin/plugin.json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，命令说明等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b="1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本质</a:t>
                      </a:r>
                      <a:endParaRPr lang="zh-CN" altLang="en-US" sz="900" b="1" dirty="0">
                        <a:solidFill>
                          <a:srgbClr val="3749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提示词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规则</a:t>
                      </a:r>
                      <a:endPara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工作流</a:t>
                      </a:r>
                      <a:r>
                        <a:rPr lang="en-US" altLang="zh-CN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+skills</a:t>
                      </a: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</a:t>
                      </a:r>
                      <a:r>
                        <a:rPr lang="en-US" altLang="zh-CN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+tools</a:t>
                      </a: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</a:t>
                      </a:r>
                      <a:r>
                        <a:rPr lang="en-US" altLang="zh-CN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+mcp</a:t>
                      </a: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调用等</a:t>
                      </a:r>
                      <a:endParaRPr lang="en-US" altLang="zh-CN" sz="900" dirty="0">
                        <a:solidFill>
                          <a:srgbClr val="3749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b="1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灵活性</a:t>
                      </a:r>
                      <a:endParaRPr lang="zh-CN" altLang="en-US" sz="900" b="1" dirty="0">
                        <a:solidFill>
                          <a:srgbClr val="3749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高，</a:t>
                      </a:r>
                      <a:r>
                        <a:rPr lang="en-US" altLang="zh-CN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 </a:t>
                      </a: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在框架内自主判断</a:t>
                      </a:r>
                      <a:endParaRPr lang="zh-CN" altLang="en-US" sz="900" dirty="0">
                        <a:solidFill>
                          <a:srgbClr val="3749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低，走固定流程</a:t>
                      </a:r>
                      <a:endParaRPr lang="zh-CN" altLang="en-US" sz="900" dirty="0">
                        <a:solidFill>
                          <a:srgbClr val="3749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b="1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典型场景</a:t>
                      </a:r>
                      <a:endParaRPr lang="zh-CN" altLang="en-US" sz="900" b="1" dirty="0">
                        <a:solidFill>
                          <a:srgbClr val="3749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合同审核、需求分析、</a:t>
                      </a: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架构图绘制、</a:t>
                      </a:r>
                      <a:r>
                        <a:rPr 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PPT</a:t>
                      </a: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制作等</a:t>
                      </a:r>
                      <a:endParaRPr lang="zh-CN" altLang="en-US" sz="900" dirty="0">
                        <a:solidFill>
                          <a:srgbClr val="3749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00" dirty="0">
                          <a:solidFill>
                            <a:srgbClr val="3749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整体方案生成、整体行业分析报告生成</a:t>
                      </a:r>
                      <a:endParaRPr lang="zh-CN" altLang="en-US" sz="900" dirty="0">
                        <a:solidFill>
                          <a:srgbClr val="37495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三大智能体总览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9ECF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THREE AGENTS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Goktech 智能体平台 · 技能与插件使用培训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97B91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06040" cy="1645920"/>
          </a:xfrm>
          <a:prstGeom prst="rect">
            <a:avLst/>
          </a:prstGeom>
          <a:solidFill>
            <a:srgbClr val="0078D4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783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商务办公助手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项技能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2606040" cy="256032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28803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日常办公效率提升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246120"/>
            <a:ext cx="2240280" cy="1715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合同审核 · PPT制作 · 文档处理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电子表格 · PDF处理 · 网页幻灯片 · 会议纪要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1097280"/>
            <a:ext cx="2606040" cy="1645920"/>
          </a:xfrm>
          <a:prstGeom prst="rect">
            <a:avLst/>
          </a:prstGeom>
          <a:solidFill>
            <a:srgbClr val="00875A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8016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1783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售前支持助手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474720" y="21945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项技能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91840" y="2743200"/>
            <a:ext cx="2606040" cy="256032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474720" y="28803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售前全流程专业支撑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74720" y="3246120"/>
            <a:ext cx="2240280" cy="1715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 · 招投标分析 · 售前工程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市场调研 · 商机评估 · 战略竞争分析 · 方案生成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技术图表 · 架构图 · 商业模式 · 价值链分析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26480" y="1097280"/>
            <a:ext cx="2606040" cy="1645920"/>
          </a:xfrm>
          <a:prstGeom prst="rect">
            <a:avLst/>
          </a:prstGeom>
          <a:solidFill>
            <a:srgbClr val="6B46C5"/>
          </a:solidFill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1783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人资管理助手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309360" y="21945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项技能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126480" y="2743200"/>
            <a:ext cx="2606040" cy="256032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309360" y="28803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6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人力资源管理赋能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09360" y="3246120"/>
            <a:ext cx="2240280" cy="1715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JD撰写 · 简历筛选 · 面试教练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薪酬扫描 · 入职计划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商务办公助手 — 7 项技能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9ECF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BUSINESS OFFICE ASSISTANT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Goktech 智能体平台 · 技能与插件使用</a:t>
            </a:r>
            <a:r>
              <a:rPr lang="zh-CN" altLang="en-US" sz="7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</a:t>
            </a:r>
            <a:endParaRPr lang="zh-CN" altLang="en-US" sz="700" dirty="0">
              <a:solidFill>
                <a:srgbClr val="697B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97B91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7764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45720" cy="777240"/>
          </a:xfrm>
          <a:prstGeom prst="rect">
            <a:avLst/>
          </a:prstGeom>
          <a:solidFill>
            <a:srgbClr val="0078D4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25296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124712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contract-review-pro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13990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合同审核：7步工作流+6维风险评价，输出批注合同+法律意见书+法理分析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38528"/>
            <a:ext cx="397764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938528"/>
            <a:ext cx="45720" cy="777240"/>
          </a:xfrm>
          <a:prstGeom prst="rect">
            <a:avLst/>
          </a:prstGeom>
          <a:solidFill>
            <a:srgbClr val="0078D4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12264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01168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pptx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97280" y="2286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演示文稿：读取/创建/编辑 .pptx，支持模板复用、批量合并拆分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2825496"/>
            <a:ext cx="397764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825496"/>
            <a:ext cx="45720" cy="777240"/>
          </a:xfrm>
          <a:prstGeom prst="rect">
            <a:avLst/>
          </a:prstGeom>
          <a:solidFill>
            <a:srgbClr val="0078D4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9923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2898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docx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97280" y="31729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文档处理：Word文档全生命周期管理，批注、修订、目录生成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3712464"/>
            <a:ext cx="397764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712464"/>
            <a:ext cx="45720" cy="777240"/>
          </a:xfrm>
          <a:prstGeom prst="rect">
            <a:avLst/>
          </a:prstGeom>
          <a:solidFill>
            <a:srgbClr val="0078D4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3785616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xlsx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97280" y="4059936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电子表格：Excel数据处理，公式计算、图表生成、数据清洗、格式转换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754880" y="1051560"/>
            <a:ext cx="397764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54880" y="1051560"/>
            <a:ext cx="45720" cy="777240"/>
          </a:xfrm>
          <a:prstGeom prst="rect">
            <a:avLst/>
          </a:prstGeom>
          <a:solidFill>
            <a:srgbClr val="0078D4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25296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94960" y="1124712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pdf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394960" y="13990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PDF处理：读取/合并/拆分/水印/表单填写/OCR识别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754880" y="1938528"/>
            <a:ext cx="397764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754880" y="1938528"/>
            <a:ext cx="45720" cy="777240"/>
          </a:xfrm>
          <a:prstGeom prst="rect">
            <a:avLst/>
          </a:prstGeom>
          <a:solidFill>
            <a:srgbClr val="0078D4"/>
          </a:solidFill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112264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94960" y="201168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frontend-slides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394960" y="2286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网页幻灯片：零依赖HTML演示文稿，动画丰富，支持PPT转Web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754880" y="2825496"/>
            <a:ext cx="397764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754880" y="2825496"/>
            <a:ext cx="45720" cy="777240"/>
          </a:xfrm>
          <a:prstGeom prst="rect">
            <a:avLst/>
          </a:prstGeom>
          <a:solidFill>
            <a:srgbClr val="0078D4"/>
          </a:solidFill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999232"/>
            <a:ext cx="320040" cy="32004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394960" y="2898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meeting-assistant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394960" y="31729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会议纪要：从录音或笔记中提取决策项、行动项、责任人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售前支持助手 — 14 项技能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9ECF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PRE-SALES SUPPORT ASSISTANT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Goktech 智能体平台 · 技能与插件使用培</a:t>
            </a:r>
            <a:r>
              <a:rPr lang="zh-CN" altLang="en-US" sz="7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</a:t>
            </a:r>
            <a:endParaRPr lang="zh-CN" altLang="en-US" sz="700" dirty="0">
              <a:solidFill>
                <a:srgbClr val="697B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97B91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011680" cy="32004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8" name="Text 6"/>
          <p:cNvSpPr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分析调研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508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requirements-analysis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647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377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market-research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市场调研</a:t>
            </a:r>
            <a:r>
              <a:rPr lang="zh-CN" alt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</a:t>
            </a:r>
            <a:endParaRPr lang="zh-CN" altLang="en-US" sz="800" dirty="0">
              <a:solidFill>
                <a:srgbClr val="697B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opportunity-assessment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5021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商机评估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0" y="1051560"/>
            <a:ext cx="2011680" cy="320040"/>
          </a:xfrm>
          <a:prstGeom prst="rect">
            <a:avLst/>
          </a:prstGeom>
          <a:solidFill>
            <a:srgbClr val="00875A"/>
          </a:solidFill>
        </p:spPr>
      </p:sp>
      <p:sp>
        <p:nvSpPr>
          <p:cNvPr id="19" name="Text 17"/>
          <p:cNvSpPr/>
          <p:nvPr/>
        </p:nvSpPr>
        <p:spPr>
          <a:xfrm>
            <a:off x="2651760" y="10515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投标与方案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146304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51760" y="1508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bid-analysis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17647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招投标分析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0" y="233172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51760" y="2377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sales-engineer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售前工程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320040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5176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ai-solution-generator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35021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AI方案生成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1051560"/>
            <a:ext cx="2011680" cy="320040"/>
          </a:xfrm>
          <a:prstGeom prst="rect">
            <a:avLst/>
          </a:prstGeom>
          <a:solidFill>
            <a:srgbClr val="6B46C5"/>
          </a:solidFill>
        </p:spPr>
      </p:sp>
      <p:sp>
        <p:nvSpPr>
          <p:cNvPr id="30" name="Text 28"/>
          <p:cNvSpPr/>
          <p:nvPr/>
        </p:nvSpPr>
        <p:spPr>
          <a:xfrm>
            <a:off x="4846320" y="10515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战略分析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46304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1508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strategy-and-competitive-analysis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17647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战略竞争分析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233172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2377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porters-five-forces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波特五力分析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320040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biz-value-chain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35021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</a:t>
            </a: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价值链分析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406908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46320" y="4114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business-model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370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</a:t>
            </a:r>
            <a:r>
              <a:rPr lang="zh-CN" alt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</a:t>
            </a:r>
            <a:endParaRPr lang="zh-CN" altLang="en-US" sz="800" dirty="0">
              <a:solidFill>
                <a:srgbClr val="697B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949440" y="1051560"/>
            <a:ext cx="2011680" cy="320040"/>
          </a:xfrm>
          <a:prstGeom prst="rect">
            <a:avLst/>
          </a:prstGeom>
          <a:solidFill>
            <a:srgbClr val="E88C00"/>
          </a:solidFill>
        </p:spPr>
      </p:sp>
      <p:sp>
        <p:nvSpPr>
          <p:cNvPr id="44" name="Text 42"/>
          <p:cNvSpPr/>
          <p:nvPr/>
        </p:nvSpPr>
        <p:spPr>
          <a:xfrm>
            <a:off x="7040880" y="10515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49440" y="146304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040880" y="1508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fireworks-tech-graph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40880" y="17647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技术图表</a:t>
            </a:r>
            <a:r>
              <a:rPr lang="zh-CN" alt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</a:t>
            </a:r>
            <a:endParaRPr lang="zh-CN" altLang="en-US" sz="800" dirty="0">
              <a:solidFill>
                <a:srgbClr val="697B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949440" y="233172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040880" y="2377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archimate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40880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企业架构图</a:t>
            </a:r>
            <a:r>
              <a:rPr lang="zh-CN" alt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endParaRPr lang="zh-CN" altLang="en-US" sz="800" dirty="0">
              <a:solidFill>
                <a:srgbClr val="697B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949440" y="320040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04088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svg-biz-model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40880" y="35021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SVG商业模式图</a:t>
            </a:r>
            <a:r>
              <a:rPr lang="zh-CN" alt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</a:t>
            </a:r>
            <a:endParaRPr lang="zh-CN" altLang="en-US" sz="800" dirty="0">
              <a:solidFill>
                <a:srgbClr val="697B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949440" y="4069080"/>
            <a:ext cx="2011680" cy="77724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040880" y="4114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frontend-design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40880" y="4370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前端界面设计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人资管理助手 — 5 项技能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9ECF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HR MANAGEMENT ASSISTANT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97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Goktech 智能体平台 · 技能与插件使用培训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97B91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54864" cy="658368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9" name="Shape 7"/>
          <p:cNvSpPr/>
          <p:nvPr/>
        </p:nvSpPr>
        <p:spPr>
          <a:xfrm>
            <a:off x="685800" y="1179576"/>
            <a:ext cx="402336" cy="402336"/>
          </a:xfrm>
          <a:prstGeom prst="ellipse">
            <a:avLst/>
          </a:prstGeom>
          <a:solidFill>
            <a:srgbClr val="0078D4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23444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10642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job-description-writer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136245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JD撰写：结构化职位描述，含包容性语言审查与需求合理性校验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1801368"/>
            <a:ext cx="54864" cy="658368"/>
          </a:xfrm>
          <a:prstGeom prst="rect">
            <a:avLst/>
          </a:prstGeom>
          <a:solidFill>
            <a:srgbClr val="00875A"/>
          </a:solidFill>
        </p:spPr>
      </p:sp>
      <p:sp>
        <p:nvSpPr>
          <p:cNvPr id="16" name="Shape 13"/>
          <p:cNvSpPr/>
          <p:nvPr/>
        </p:nvSpPr>
        <p:spPr>
          <a:xfrm>
            <a:off x="685800" y="1929384"/>
            <a:ext cx="402336" cy="402336"/>
          </a:xfrm>
          <a:prstGeom prst="ellipse">
            <a:avLst/>
          </a:prstGeom>
          <a:solidFill>
            <a:srgbClr val="00875A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98424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185623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resume-screener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280160" y="2112264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简历筛选：6维评分模型，通过/待定/淘汰三级筛选，支持批量排序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2551176"/>
            <a:ext cx="54864" cy="658368"/>
          </a:xfrm>
          <a:prstGeom prst="rect">
            <a:avLst/>
          </a:prstGeom>
          <a:solidFill>
            <a:srgbClr val="6B46C5"/>
          </a:solidFill>
        </p:spPr>
      </p:sp>
      <p:sp>
        <p:nvSpPr>
          <p:cNvPr id="23" name="Shape 19"/>
          <p:cNvSpPr/>
          <p:nvPr/>
        </p:nvSpPr>
        <p:spPr>
          <a:xfrm>
            <a:off x="685800" y="2679192"/>
            <a:ext cx="402336" cy="402336"/>
          </a:xfrm>
          <a:prstGeom prst="ellipse">
            <a:avLst/>
          </a:prstGeom>
          <a:solidFill>
            <a:srgbClr val="6B46C5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734056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80160" y="260604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interview-coach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280160" y="2862072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面试教练：22项功能——模拟面试+答题评分+STAR训练+薪资谈判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3300984"/>
            <a:ext cx="54864" cy="658368"/>
          </a:xfrm>
          <a:prstGeom prst="rect">
            <a:avLst/>
          </a:prstGeom>
          <a:solidFill>
            <a:srgbClr val="E88C00"/>
          </a:solidFill>
        </p:spPr>
      </p:sp>
      <p:sp>
        <p:nvSpPr>
          <p:cNvPr id="30" name="Shape 25"/>
          <p:cNvSpPr/>
          <p:nvPr/>
        </p:nvSpPr>
        <p:spPr>
          <a:xfrm>
            <a:off x="685800" y="3429000"/>
            <a:ext cx="402336" cy="402336"/>
          </a:xfrm>
          <a:prstGeom prst="ellipse">
            <a:avLst/>
          </a:prstGeom>
          <a:solidFill>
            <a:srgbClr val="E88C00"/>
          </a:solidFill>
        </p:spPr>
      </p:sp>
      <p:sp>
        <p:nvSpPr>
          <p:cNvPr id="32" name="Text 26"/>
          <p:cNvSpPr/>
          <p:nvPr/>
        </p:nvSpPr>
        <p:spPr>
          <a:xfrm>
            <a:off x="1280160" y="335584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salary-market-scanner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280160" y="361188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薪酬扫描：实时抓取 Levels.fyi/Glassdoor/LinkedIn等平台薪资数据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57200" y="4050792"/>
            <a:ext cx="54864" cy="65836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7" name="Shape 31"/>
          <p:cNvSpPr/>
          <p:nvPr/>
        </p:nvSpPr>
        <p:spPr>
          <a:xfrm>
            <a:off x="685800" y="4178808"/>
            <a:ext cx="402336" cy="402336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39" name="Text 32"/>
          <p:cNvSpPr/>
          <p:nvPr/>
        </p:nvSpPr>
        <p:spPr>
          <a:xfrm>
            <a:off x="1280160" y="410565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hr-onboarding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280160" y="436168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入职计划：一页HTML入职方案——首周日程+学习路径+90天里程碑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39B"/>
          </a:solidFill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技能调用方式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9ECF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THREE WAYS TO INVOKE SKILLS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97B91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54864" cy="1188720"/>
          </a:xfrm>
          <a:prstGeom prst="rect">
            <a:avLst/>
          </a:prstGeom>
          <a:solidFill>
            <a:srgbClr val="00875A"/>
          </a:solidFill>
        </p:spPr>
      </p:sp>
      <p:sp>
        <p:nvSpPr>
          <p:cNvPr id="9" name="Shape 7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00875A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3441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143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方式一：自然语言描述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139903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87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推荐新手使用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71600" y="1618488"/>
            <a:ext cx="7040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无需记忆技能名称，直接用日常语言描述需求，系统自动匹配技能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371600" y="1874520"/>
            <a:ext cx="7040880" cy="274320"/>
          </a:xfrm>
          <a:prstGeom prst="rect">
            <a:avLst/>
          </a:prstGeom>
          <a:solidFill>
            <a:srgbClr val="F2F7FC"/>
          </a:solidFill>
        </p:spPr>
      </p:sp>
      <p:sp>
        <p:nvSpPr>
          <p:cNvPr id="15" name="Text 12"/>
          <p:cNvSpPr/>
          <p:nvPr/>
        </p:nvSpPr>
        <p:spPr>
          <a:xfrm>
            <a:off x="1463040" y="18745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"帮我审核这份供应商合同，重点关注付款条款和违约责任"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350008"/>
            <a:ext cx="8229600" cy="118872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350008"/>
            <a:ext cx="54864" cy="118872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18" name="Shape 15"/>
          <p:cNvSpPr/>
          <p:nvPr/>
        </p:nvSpPr>
        <p:spPr>
          <a:xfrm>
            <a:off x="731520" y="2578608"/>
            <a:ext cx="457200" cy="457200"/>
          </a:xfrm>
          <a:prstGeom prst="ellipse">
            <a:avLst/>
          </a:prstGeom>
          <a:solidFill>
            <a:srgbClr val="0078D4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4261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71600" y="244144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方式二：斜杠命令精确调用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71600" y="26974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8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推荐熟练用户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371600" y="2834386"/>
            <a:ext cx="7040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 / 后跟技能名称，实现精确快速调用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371600" y="3154680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/contract-review-pro → 合同专业审核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/market-research → 市场调研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/requirements-analysis → 需求分析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/resume-screener → 简历筛选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57200" y="3648456"/>
            <a:ext cx="8229600" cy="1188720"/>
          </a:xfrm>
          <a:prstGeom prst="rect">
            <a:avLst/>
          </a:prstGeom>
          <a:solidFill>
            <a:srgbClr val="FFFFFF"/>
          </a:solidFill>
          <a:effectLst>
            <a:outerShdw blurRad="101600" dist="12700" dir="8100000" algn="bl" rotWithShape="0">
              <a:srgbClr val="93B8D7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648456"/>
            <a:ext cx="54864" cy="1188720"/>
          </a:xfrm>
          <a:prstGeom prst="rect">
            <a:avLst/>
          </a:prstGeom>
          <a:solidFill>
            <a:srgbClr val="6B46C5"/>
          </a:solidFill>
        </p:spPr>
      </p:sp>
      <p:sp>
        <p:nvSpPr>
          <p:cNvPr id="26" name="Shape 22"/>
          <p:cNvSpPr/>
          <p:nvPr/>
        </p:nvSpPr>
        <p:spPr>
          <a:xfrm>
            <a:off x="731520" y="3877056"/>
            <a:ext cx="457200" cy="457200"/>
          </a:xfrm>
          <a:prstGeom prst="ellipse">
            <a:avLst/>
          </a:prstGeom>
          <a:solidFill>
            <a:srgbClr val="6B46C5"/>
          </a:solidFill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941064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71600" y="373989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方式三：智能体上下文切换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371600" y="399592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46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复杂多步骤任务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371600" y="4215384"/>
            <a:ext cx="7040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先切换到对应智能体上下文，再进行多轮交互完成端到端任务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1371600" y="4471416"/>
            <a:ext cx="7040880" cy="274320"/>
          </a:xfrm>
          <a:prstGeom prst="rect">
            <a:avLst/>
          </a:prstGeom>
          <a:solidFill>
            <a:srgbClr val="F2F7FC"/>
          </a:solidFill>
        </p:spPr>
      </p:sp>
      <p:sp>
        <p:nvSpPr>
          <p:cNvPr id="32" name="Text 27"/>
          <p:cNvSpPr/>
          <p:nvPr/>
        </p:nvSpPr>
        <p:spPr>
          <a:xfrm>
            <a:off x="1463040" y="447141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售前支持助手 → 需求分析 → 画架构图 → 生成方案文档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2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3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4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5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6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7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8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9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0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1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2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3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4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5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6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7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8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19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20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21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22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23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24.xml><?xml version="1.0" encoding="utf-8"?>
<p:tagLst xmlns:p="http://schemas.openxmlformats.org/presentationml/2006/main">
  <p:tag name="KSO_WM_DIAGRAM_VIRTUALLY_FRAME" val="{&quot;height&quot;:244.8,&quot;left&quot;:36,&quot;top&quot;:86.4,&quot;width&quot;:648}"/>
</p:tagLst>
</file>

<file path=ppt/tags/tag25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26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27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28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29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0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1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2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3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4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5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6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7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8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39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40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ags/tag41.xml><?xml version="1.0" encoding="utf-8"?>
<p:tagLst xmlns:p="http://schemas.openxmlformats.org/presentationml/2006/main">
  <p:tag name="KSO_WM_DIAGRAM_VIRTUALLY_FRAME" val="{&quot;height&quot;:158.4,&quot;left&quot;:72,&quot;top&quot;:86.4,&quot;width&quot;:57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2451</Words>
  <Application>WPS 演示</Application>
  <PresentationFormat>On-screen Show (16:9)</PresentationFormat>
  <Paragraphs>323</Paragraphs>
  <Slides>10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Calibri Light</vt:lpstr>
      <vt:lpstr>Calibri Light</vt:lpstr>
      <vt:lpstr>Calibri Light</vt:lpstr>
      <vt:lpstr>思源宋体 CN Light</vt:lpstr>
      <vt:lpstr>Cascadia Code</vt:lpstr>
      <vt:lpstr>Segoe Print</vt:lpstr>
      <vt:lpstr>Cascadia Code</vt:lpstr>
      <vt:lpstr>Cascadia Code</vt:lpstr>
      <vt:lpstr>Calibri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Goktech 智能体平台——技能与插件使用培训</dc:title>
  <dc:creator>Goktech AI 解决方案团队</dc:creator>
  <dc:subject>用户使用培训</dc:subject>
  <cp:lastModifiedBy>惊鸿</cp:lastModifiedBy>
  <cp:revision>11</cp:revision>
  <dcterms:created xsi:type="dcterms:W3CDTF">2026-05-26T07:02:00Z</dcterms:created>
  <dcterms:modified xsi:type="dcterms:W3CDTF">2026-06-03T14:58:11Z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0C094E9C87DA4E4C92F1F93498E51BC0_12</vt:lpwstr>
  </property>
</Properties>
</file>